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3b32448-7faa-1542-a9e5-265b23eb84b1}">
          <p14:sldIdLst>
            <p14:sldId id="256"/>
          </p14:sldIdLst>
        </p14:section>
        <p14:section name="O desafio" id="{a019a51e-63b9-0962-1666-4de11d12027e}">
          <p14:sldIdLst>
            <p14:sldId id="257"/>
            <p14:sldId id="258"/>
            <p14:sldId id="259"/>
          </p14:sldIdLst>
        </p14:section>
        <p14:section name="A solução" id="{3209381e-f325-ae78-d056-409b61968fd0}">
          <p14:sldIdLst>
            <p14:sldId id="260"/>
            <p14:sldId id="261"/>
            <p14:sldId id="262"/>
          </p14:sldIdLst>
        </p14:section>
        <p14:section name="Fechamento" id="{72f83d93-4494-a6d9-5908-6aa6e057b4d8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receita</c:v>
                </c:pt>
              </c:strCache>
            </c:strRef>
          </c:tx>
          <c:spPr>
            <a:solidFill>
              <a:srgbClr val="5A6A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A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C2C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Mínimo constitucional</c:v>
                  </c:pt>
                  <c:pt idx="1">
                    <c:v>Média aplicada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</c:v>
                </c:pt>
                <c:pt idx="1">
                  <c:v>22.2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8C4E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Apresente a Desenvolve Consultoria e o objetivo da conversa: mostrar como apoiamos a Secretaria a ter mais recursos, mais segurança na gestão e mais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Saldo: R$ 51.674.490.522,78 (InvestSUS, Painel de Saldos, consulta em out/2026). Receita própria: média de 22,2% em 2025 contra mínimo de 15%; R$ 57,4 bi acima do piso em 2024 (CNM/SIOPS). Mensagem: o município banca a saúde com recurso próprio enquanto o recurso vinculado fica 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ao Secretário que responda mentalmente: quais desses suportes ele tem na equipe hoje? Funciona para quem não tem nenhum e para quem tem um ou dois. Não aponte falhas; deixe que ele identifique as lacunas.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Transforme as dores em risco concreto. Destaque o ponto que mais tocou o Secretário no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Atualize o número de municípios atendidos sempre que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as cinco frentes ligando cada uma a uma dor dos slides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Clique no botão para abrir o Visão 360 em nova aba e mostrar os números do município do cliente. Link: https://www.visao360saude.com.br/login.php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Pergunte qual formato faz mais sentido agora. O diagnóstico situacional é a porta de entrada mais simples.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combinando a conversa de diagnóstico, com data. Deixe o contato e, se possível, o acesso ao Visão 360.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50">
              <a:alpha val="78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0D11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25c0be0f-0a5e-54d0-b86c-4757d56f039f/scratchpad/deck/assets/dsve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877824" cy="320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002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Desenvolve Consultoria · Grupo Desenvolve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hyperlink" Target="https://www.visao360saude.com.br/login.php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6" Type="http://schemas.openxmlformats.org/officeDocument/2006/relationships/image" Target="../media/image-7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9600" y="1417320"/>
            <a:ext cx="3291840" cy="3291840"/>
          </a:xfrm>
          <a:prstGeom prst="rect">
            <a:avLst/>
          </a:prstGeom>
        </p:spPr>
      </p:pic>
      <p:pic>
        <p:nvPicPr>
          <p:cNvPr id="3" name="Image 1" descr="/tmp/claude-0/-home-user/25c0be0f-0a5e-54d0-b86c-4757d56f039f/scratchpad/deck/assets/dsve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2377440" cy="8686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2402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0C2CB"/>
                </a:solidFill>
              </a:rPr>
              <a:t>SECRETARIAS MUNICIPAIS DE SAÚDE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65176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Mais recursos, mais segurança e </a:t>
            </a:r>
            <a:pPr indent="0" marL="0">
              <a:buNone/>
            </a:pPr>
            <a:r>
              <a:rPr lang="en-US" sz="38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mais resultado</a:t>
            </a:r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para a saúde do seu município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617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EC"/>
                </a:solidFill>
              </a:rPr>
              <a:t>Consultoria e assessoria em gestão da saúde pública, com método próprio e painel de dados.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989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4EC"/>
                </a:solidFill>
              </a:rPr>
              <a:t>Uma empresa do</a:t>
            </a:r>
            <a:endParaRPr lang="en-US" sz="1100" dirty="0"/>
          </a:p>
        </p:txBody>
      </p:sp>
      <p:pic>
        <p:nvPicPr>
          <p:cNvPr id="8" name="Image 2" descr="/tmp/claude-0/-home-user/25c0be0f-0a5e-54d0-b86c-4757d56f039f/scratchpad/deck/assets/grupo-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6035040"/>
            <a:ext cx="1554480" cy="2322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DESAFIO DO RECURSO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 recurso existe, mas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nem sempre está onde o município precisa</a:t>
            </a:r>
            <a:endParaRPr lang="en-US" sz="3000" dirty="0"/>
          </a:p>
        </p:txBody>
      </p:sp>
      <p:sp>
        <p:nvSpPr>
          <p:cNvPr id="4" name="Saldo em conta"/>
          <p:cNvSpPr/>
          <p:nvPr/>
        </p:nvSpPr>
        <p:spPr>
          <a:xfrm>
            <a:off x="548640" y="1965960"/>
            <a:ext cx="5349240" cy="4069080"/>
          </a:xfrm>
          <a:prstGeom prst="roundRect">
            <a:avLst>
              <a:gd name="adj" fmla="val 2697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R$ 51,7</a:t>
            </a:r>
            <a:pPr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bi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 saldo nas contas dos fundos públicos de saúde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8C4EC"/>
                </a:solidFill>
              </a:rPr>
              <a:t>O recurso federal e estadual chega vinculado a blocos e finalidades definidos fora do município, que nem sempre atendem às necessidades locais. Enquanto ele se acumula em conta, o recurso próprio é pressionado a cobrir o restante.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532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Fonte: InvestSUS, Painel de Saldos, Ministério da Saúde (consulta em out/2026).</a:t>
            </a:r>
            <a:endParaRPr lang="en-US" sz="1000" dirty="0"/>
          </a:p>
        </p:txBody>
      </p:sp>
      <p:sp>
        <p:nvSpPr>
          <p:cNvPr id="9" name="Receita própria"/>
          <p:cNvSpPr/>
          <p:nvPr/>
        </p:nvSpPr>
        <p:spPr>
          <a:xfrm>
            <a:off x="6263640" y="1965960"/>
            <a:ext cx="5376672" cy="4069080"/>
          </a:xfrm>
          <a:prstGeom prst="roundRect">
            <a:avLst>
              <a:gd name="adj" fmla="val 2697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148840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Receita própria aplicada em saúde pelos municípios, 2025</a:t>
            </a:r>
            <a:endParaRPr lang="en-US" sz="1500" dirty="0"/>
          </a:p>
        </p:txBody>
      </p:sp>
      <p:graphicFrame>
        <p:nvGraphicFramePr>
          <p:cNvPr id="11" name="Gráfico receita própria" descr=""/>
          <p:cNvGraphicFramePr/>
          <p:nvPr/>
        </p:nvGraphicFramePr>
        <p:xfrm>
          <a:off x="6446520" y="2651760"/>
          <a:ext cx="501091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6583680" y="4526280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C2CB"/>
                </a:solidFill>
              </a:rPr>
              <a:t>R$ 57,4 bilhões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 acima do piso constitucional, aplicados pelos municípios em 2024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5532120"/>
            <a:ext cx="4736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Fonte: CNM, a partir de dados do SIOPS (2024 e 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GESTÃO NO DIA A DIA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 Secretário responde por tudo.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Nem sempre tem quem o apoie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2CB"/>
                </a:solidFill>
              </a:rPr>
              <a:t>A pressão sobre a gestão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66928" cy="566928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2639324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246888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Processos licitatórios e montagem de documentos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566928" cy="566928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3508004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333756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Respostas e ofícios a Tribunais de Contas e Ministério Público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251960"/>
            <a:ext cx="566928" cy="566928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4376684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420624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Responsabilidade pessoal por atos da Secretaria que nem sempre consegue acompanhar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5245364"/>
            <a:ext cx="317480" cy="3174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507492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Regras e portarias que mudam a todo momento</a:t>
            </a:r>
            <a:endParaRPr lang="en-US" sz="1500" dirty="0"/>
          </a:p>
        </p:txBody>
      </p:sp>
      <p:sp>
        <p:nvSpPr>
          <p:cNvPr id="17" name="Autodiagnóstico"/>
          <p:cNvSpPr/>
          <p:nvPr/>
        </p:nvSpPr>
        <p:spPr>
          <a:xfrm>
            <a:off x="6263640" y="1965960"/>
            <a:ext cx="5376672" cy="4069080"/>
          </a:xfrm>
          <a:prstGeom prst="roundRect">
            <a:avLst>
              <a:gd name="adj" fmla="val 2697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0" y="2148840"/>
            <a:ext cx="4736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Quais destes suportes a sua Secretaria tem hoje?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6583680" y="29900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D1150"/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040880" y="2926080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Jurídico-sanitário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6583680" y="34655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D1150"/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040880" y="3401568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Financeiro e orçamentário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583680" y="39410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D1150"/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040880" y="3877056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Técnico e de faturamento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583680" y="44165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D1150"/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40880" y="4352544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Sistemas do Ministério da Saúde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583680" y="489204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0D1150"/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040880" y="4828032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Sistemas estaduais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6583680" y="534924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0C2CB"/>
                </a:solidFill>
              </a:rPr>
              <a:t>Cada suporte que falta é um ponto de risco para a gestão e para o gestor.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CUSTO DE NÃO AGIR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Quando falta suporte, a conta chega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para o município e para o gestor</a:t>
            </a:r>
            <a:endParaRPr lang="en-US" sz="3000" dirty="0"/>
          </a:p>
        </p:txBody>
      </p:sp>
      <p:sp>
        <p:nvSpPr>
          <p:cNvPr id="4" name="Recurso parado, recurso próprio estrangulado"/>
          <p:cNvSpPr/>
          <p:nvPr/>
        </p:nvSpPr>
        <p:spPr>
          <a:xfrm>
            <a:off x="548640" y="19659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860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42681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Recurso parado, recurso próprio estrangulado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9260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O saldo vinculado se acumula em conta enquanto o tesouro municipal cobre o que falta.</a:t>
            </a:r>
            <a:endParaRPr lang="en-US" sz="1400" dirty="0"/>
          </a:p>
        </p:txBody>
      </p:sp>
      <p:sp>
        <p:nvSpPr>
          <p:cNvPr id="9" name="Apontamentos e responsabilização"/>
          <p:cNvSpPr/>
          <p:nvPr/>
        </p:nvSpPr>
        <p:spPr>
          <a:xfrm>
            <a:off x="6199632" y="19659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19672" y="22860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90" y="242681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88352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Apontamentos e responsabilização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88352" y="29260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Órgãos de controle apontam falhas, e o gestor responde pessoalmente por elas.</a:t>
            </a:r>
            <a:endParaRPr lang="en-US" sz="1400" dirty="0"/>
          </a:p>
        </p:txBody>
      </p:sp>
      <p:sp>
        <p:nvSpPr>
          <p:cNvPr id="14" name="Perda de repasse na Atenção Primária"/>
          <p:cNvSpPr/>
          <p:nvPr/>
        </p:nvSpPr>
        <p:spPr>
          <a:xfrm>
            <a:off x="548640" y="40233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448421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2976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Perda de repasse na Atenção Primária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49834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No novo cofinanciamento da APS, parte do repasse federal depende do desempenho em indicadores de qualidade.</a:t>
            </a:r>
            <a:endParaRPr lang="en-US" sz="1400" dirty="0"/>
          </a:p>
        </p:txBody>
      </p:sp>
      <p:sp>
        <p:nvSpPr>
          <p:cNvPr id="19" name="Instrumentos de gestão pendentes"/>
          <p:cNvSpPr/>
          <p:nvPr/>
        </p:nvSpPr>
        <p:spPr>
          <a:xfrm>
            <a:off x="6199632" y="4023360"/>
            <a:ext cx="5440680" cy="1874520"/>
          </a:xfrm>
          <a:prstGeom prst="roundRect">
            <a:avLst>
              <a:gd name="adj" fmla="val 5854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19672" y="4343400"/>
            <a:ext cx="640080" cy="64008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90" y="448421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88352" y="42976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Instrumentos de gestão pendentes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388352" y="49834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Plano de Saúde, PAS, RDQA e RAG fora do prazo comprometem a regularidade e travam transferências.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Referências: Portaria GM/MS nº 3.493/2024 (cofinanciamento da APS); Lei Complementar nº 141/2012 (RAG ao Conselho de Saúde até 30 de março).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Experiência em gestão municipal da saúde,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desde 2017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EC"/>
                </a:solidFill>
              </a:rPr>
              <a:t>A Desenvolve Consultoria apoia Secretarias Municipais de Saúde no planejamento, no financiamento e no cumprimento das exigências do SUS. Faz parte do Grupo Desenvolve, que reúne consultoria, formação e tecnologia em saúde pública.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municípios atendidos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2017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início da atuação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4480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frentes de atuação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Parceiros institucionais</a:t>
            </a:r>
            <a:endParaRPr lang="en-US" sz="1500" dirty="0"/>
          </a:p>
        </p:txBody>
      </p:sp>
      <p:sp>
        <p:nvSpPr>
          <p:cNvPr id="12" name="Placa de logos"/>
          <p:cNvSpPr/>
          <p:nvPr/>
        </p:nvSpPr>
        <p:spPr>
          <a:xfrm>
            <a:off x="6720840" y="2423160"/>
            <a:ext cx="4919472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/tmp/claude-0/-home-user/25c0be0f-0a5e-54d0-b86c-4757d56f039f/scratchpad/deck/assets/logo-conase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697480"/>
            <a:ext cx="4005072" cy="717804"/>
          </a:xfrm>
          <a:prstGeom prst="rect">
            <a:avLst/>
          </a:prstGeom>
        </p:spPr>
      </p:pic>
      <p:pic>
        <p:nvPicPr>
          <p:cNvPr id="14" name="Image 1" descr="/tmp/claude-0/-home-user/25c0be0f-0a5e-54d0-b86c-4757d56f039f/scratchpad/deck/assets/logo-cosems-p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4069060"/>
            <a:ext cx="1962265" cy="685840"/>
          </a:xfrm>
          <a:prstGeom prst="rect">
            <a:avLst/>
          </a:prstGeom>
        </p:spPr>
      </p:pic>
      <p:pic>
        <p:nvPicPr>
          <p:cNvPr id="15" name="Image 2" descr="/tmp/claude-0/-home-user/25c0be0f-0a5e-54d0-b86c-4757d56f039f/scratchpad/deck/assets/logo-cosems-p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65" y="4069060"/>
            <a:ext cx="945479" cy="685840"/>
          </a:xfrm>
          <a:prstGeom prst="rect">
            <a:avLst/>
          </a:prstGeom>
        </p:spPr>
      </p:pic>
      <p:pic>
        <p:nvPicPr>
          <p:cNvPr id="16" name="Image 3" descr="/tmp/claude-0/-home-user/25c0be0f-0a5e-54d0-b86c-4757d56f039f/scratchpad/deck/assets/logo-cosems-a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2984" y="4069060"/>
            <a:ext cx="823008" cy="68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NOSSO MÉTODO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Método Desenvolve: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cinco frentes para uma gestão mais forte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150"/>
                </a:solidFill>
              </a:rPr>
              <a:t>+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RECURSOS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18745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Captação e ampliação de recursos federais e estaduais, com habilitações, programas e propostas técnicas que aumentam o orçamento da saúde do município.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25880" y="2665476"/>
            <a:ext cx="10314432" cy="0"/>
          </a:xfrm>
          <a:prstGeom prst="line">
            <a:avLst/>
          </a:prstGeom>
          <a:noFill/>
          <a:ln w="9525">
            <a:solidFill>
              <a:srgbClr val="2A32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16352"/>
            <a:ext cx="548640" cy="54864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16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150"/>
                </a:solidFill>
              </a:rPr>
              <a:t>+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724912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SEGURANÇA FINANCEIRA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724912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Aplicação e priorização dos recursos vinculados federais e estaduais, liberando o recurso próprio para as necessidades definidas pelo município.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325880" y="3515868"/>
            <a:ext cx="10314432" cy="0"/>
          </a:xfrm>
          <a:prstGeom prst="line">
            <a:avLst/>
          </a:prstGeom>
          <a:noFill/>
          <a:ln w="9525">
            <a:solidFill>
              <a:srgbClr val="2A32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666744"/>
            <a:ext cx="548640" cy="54864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66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150"/>
                </a:solidFill>
              </a:rPr>
              <a:t>+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57530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INFORMAÇÃO RÁPIDA E CONFIÁVEL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575304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Acompanhamento diário de portarias e publicações do Ministério da Saúde e da Secretaria Estadual, com o impacto para o município, espaço para dúvidas e indicação de providências.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25880" y="4366260"/>
            <a:ext cx="10314432" cy="0"/>
          </a:xfrm>
          <a:prstGeom prst="line">
            <a:avLst/>
          </a:prstGeom>
          <a:noFill/>
          <a:ln w="9525">
            <a:solidFill>
              <a:srgbClr val="2A32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517136"/>
            <a:ext cx="548640" cy="54864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150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25696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CUMPRIMENTO NORMATIVO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42569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Correto preenchimento dos sistemas da saúde e elaboração e atualização do Plano de Saúde, PAS, RDQA, RAG e demais instrumentos no DigiSUS.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25880" y="5216652"/>
            <a:ext cx="10314432" cy="0"/>
          </a:xfrm>
          <a:prstGeom prst="line">
            <a:avLst/>
          </a:prstGeom>
          <a:noFill/>
          <a:ln w="9525">
            <a:solidFill>
              <a:srgbClr val="2A32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367528"/>
            <a:ext cx="548640" cy="54864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150"/>
                </a:solidFill>
              </a:rPr>
              <a:t>+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7608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SEGURANÇA JURÍDICO-SANITÁRIA NA GESTÃO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527608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Apoio técnico-normativo na instrução de processos licitatórios e contratações públicas, na organização de documentos e em subsídios técnicos para respostas a Tribunais de Contas, Ministério Público e demais órgãos de controle.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PAINEL DE GESTÃO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Visão 360 Saúde: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os números da gestão em um só lugar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4EC"/>
                </a:solidFill>
              </a:rPr>
              <a:t>Dados da saúde do município reunidos em gráficos, relatórios e indicadores-chave, para apoiar decisões estratégicas e o acompanhamento das políticas públicas.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0098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Indicadores-chave do município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5818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37033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Gráficos e relatórios personalizados</a:t>
            </a:r>
            <a:endParaRPr lang="en-US" sz="15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1538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4160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Acompanhamento de políticas públicas</a:t>
            </a:r>
            <a:endParaRPr lang="en-US" sz="15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67258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46177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Acesso pela web e pelo aplicativo</a:t>
            </a:r>
            <a:endParaRPr lang="en-US" sz="1500" dirty="0"/>
          </a:p>
        </p:txBody>
      </p:sp>
      <p:sp>
        <p:nvSpPr>
          <p:cNvPr id="13" name="Botão Visão 360">
            <a:hlinkClick r:id="rId5" tooltip="Abrir o Visão 360 Saúde"/>
          </p:cNvPr>
          <p:cNvSpPr/>
          <p:nvPr/>
        </p:nvSpPr>
        <p:spPr>
          <a:xfrm>
            <a:off x="548640" y="525780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4" name="Text 8">
            <a:hlinkClick r:id="rId5" tooltip="Abrir o Visão 360 Saúde"/>
          </p:cNvPr>
          <p:cNvSpPr txBox="1"/>
          <p:nvPr/>
        </p:nvSpPr>
        <p:spPr>
          <a:xfrm>
            <a:off x="548640" y="5257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0D1150"/>
                </a:solidFill>
                <a:hlinkClick r:id="rId5" invalidUrl="" action="" tgtFrame="" tooltip="Abrir o Visão 360 Saúd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os números do seu município  →</a:t>
            </a:r>
            <a:endParaRPr lang="en-US" sz="1500" dirty="0"/>
          </a:p>
        </p:txBody>
      </p:sp>
      <p:sp>
        <p:nvSpPr>
          <p:cNvPr id="15" name="Tela ilustrativa"/>
          <p:cNvSpPr/>
          <p:nvPr/>
        </p:nvSpPr>
        <p:spPr>
          <a:xfrm>
            <a:off x="5989320" y="1965960"/>
            <a:ext cx="5650992" cy="3886200"/>
          </a:xfrm>
          <a:prstGeom prst="roundRect">
            <a:avLst>
              <a:gd name="adj" fmla="val 2824"/>
            </a:avLst>
          </a:prstGeom>
          <a:solidFill>
            <a:srgbClr val="F4F7FD"/>
          </a:solidFill>
          <a:ln w="12700">
            <a:solidFill>
              <a:srgbClr val="F4F7FD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989320" y="2075688"/>
            <a:ext cx="5650992" cy="301752"/>
          </a:xfrm>
          <a:prstGeom prst="rect">
            <a:avLst/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989320" y="1965960"/>
            <a:ext cx="5650992" cy="411480"/>
          </a:xfrm>
          <a:prstGeom prst="roundRect">
            <a:avLst>
              <a:gd name="adj" fmla="val 26667"/>
            </a:avLst>
          </a:prstGeom>
          <a:solidFill>
            <a:srgbClr val="E3E9F7"/>
          </a:solidFill>
          <a:ln w="12700">
            <a:solidFill>
              <a:srgbClr val="E3E9F7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172200" y="2103120"/>
            <a:ext cx="128016" cy="128016"/>
          </a:xfrm>
          <a:prstGeom prst="ellipse">
            <a:avLst/>
          </a:prstGeom>
          <a:solidFill>
            <a:srgbClr val="F26B5E"/>
          </a:solidFill>
          <a:ln w="12700">
            <a:solidFill>
              <a:srgbClr val="F26B5E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373368" y="2103120"/>
            <a:ext cx="128016" cy="128016"/>
          </a:xfrm>
          <a:prstGeom prst="ellipse">
            <a:avLst/>
          </a:prstGeom>
          <a:solidFill>
            <a:srgbClr val="F5BE4F"/>
          </a:solidFill>
          <a:ln w="12700">
            <a:solidFill>
              <a:srgbClr val="F5BE4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74536" y="2103120"/>
            <a:ext cx="128016" cy="128016"/>
          </a:xfrm>
          <a:prstGeom prst="ellipse">
            <a:avLst/>
          </a:prstGeom>
          <a:solidFill>
            <a:srgbClr val="4CC38A"/>
          </a:solidFill>
          <a:ln w="12700">
            <a:solidFill>
              <a:srgbClr val="4CC38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989320" y="2377440"/>
            <a:ext cx="1051560" cy="3364992"/>
          </a:xfrm>
          <a:prstGeom prst="rect">
            <a:avLst/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989320" y="5623560"/>
            <a:ext cx="1051560" cy="228600"/>
          </a:xfrm>
          <a:prstGeom prst="roundRect">
            <a:avLst>
              <a:gd name="adj" fmla="val 48000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2560320"/>
            <a:ext cx="365760" cy="36576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190488" y="3200400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90488" y="3584448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190488" y="3968496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90488" y="4352544"/>
            <a:ext cx="658368" cy="109728"/>
          </a:xfrm>
          <a:prstGeom prst="roundRect">
            <a:avLst>
              <a:gd name="adj" fmla="val 50000"/>
            </a:avLst>
          </a:prstGeom>
          <a:solidFill>
            <a:srgbClr val="5E86D6"/>
          </a:solidFill>
          <a:ln w="12700">
            <a:solidFill>
              <a:srgbClr val="5E86D6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269480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7406640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06640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95944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833104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833104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10122408" y="2606040"/>
            <a:ext cx="128930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259568" y="2770632"/>
            <a:ext cx="644652" cy="91440"/>
          </a:xfrm>
          <a:prstGeom prst="roundRect">
            <a:avLst>
              <a:gd name="adj" fmla="val 50000"/>
            </a:avLst>
          </a:prstGeom>
          <a:solidFill>
            <a:srgbClr val="C9D3EA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259568" y="2990088"/>
            <a:ext cx="902513" cy="256032"/>
          </a:xfrm>
          <a:prstGeom prst="roundRect">
            <a:avLst>
              <a:gd name="adj" fmla="val 21429"/>
            </a:avLst>
          </a:prstGeom>
          <a:solidFill>
            <a:srgbClr val="004AAD"/>
          </a:solidFill>
          <a:ln w="12700">
            <a:solidFill>
              <a:srgbClr val="004AAD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269480" y="3657600"/>
            <a:ext cx="414223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7636207" y="4661154"/>
            <a:ext cx="328557" cy="59664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149577" y="4435754"/>
            <a:ext cx="328557" cy="82204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8662947" y="4528566"/>
            <a:ext cx="328557" cy="729234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9176318" y="4223614"/>
            <a:ext cx="328557" cy="103418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9689688" y="4329684"/>
            <a:ext cx="328557" cy="928116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203058" y="4064508"/>
            <a:ext cx="328557" cy="1193292"/>
          </a:xfrm>
          <a:prstGeom prst="rect">
            <a:avLst/>
          </a:prstGeom>
          <a:solidFill>
            <a:srgbClr val="7FA4E6"/>
          </a:solidFill>
          <a:ln w="12700">
            <a:solidFill>
              <a:srgbClr val="7FA4E6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10716428" y="4170578"/>
            <a:ext cx="328557" cy="1087222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989320" y="5897880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Imagem ilustrativa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TRABALHAMOS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Três formas de contratar,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conforme a necessidade do município</a:t>
            </a:r>
            <a:endParaRPr lang="en-US" sz="3000" dirty="0"/>
          </a:p>
        </p:txBody>
      </p:sp>
      <p:sp>
        <p:nvSpPr>
          <p:cNvPr id="4" name="Diagnóstico situacional"/>
          <p:cNvSpPr/>
          <p:nvPr/>
        </p:nvSpPr>
        <p:spPr>
          <a:xfrm>
            <a:off x="548640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243687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Diagnóstico situacional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Raio-x da gestão municipal da saúde, com prioridades e oportunidades identificadas.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C2CB"/>
                </a:solidFill>
              </a:rPr>
              <a:t>Contratado de forma autônoma ou incluído na consultoria completa.</a:t>
            </a:r>
            <a:endParaRPr lang="en-US" sz="1300" dirty="0"/>
          </a:p>
        </p:txBody>
      </p:sp>
      <p:sp>
        <p:nvSpPr>
          <p:cNvPr id="10" name="Assessoria em frentes específicas"/>
          <p:cNvSpPr/>
          <p:nvPr/>
        </p:nvSpPr>
        <p:spPr>
          <a:xfrm>
            <a:off x="4315968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151A6B"/>
          </a:solidFill>
          <a:ln w="12700">
            <a:solidFill>
              <a:srgbClr val="2A32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36008" y="2286000"/>
            <a:ext cx="685800" cy="68580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4" y="243687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6008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Assessoria em frentes específicas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36008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C4EC"/>
                </a:solidFill>
              </a:rPr>
              <a:t>Atuação dirigida a uma necessidade pontual, como: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636008" y="448056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Revisão de teto MAC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Análise de faturamento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Estudo de captação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Contratualização</a:t>
            </a:r>
            <a:endParaRPr lang="en-US" sz="1400" dirty="0"/>
          </a:p>
        </p:txBody>
      </p:sp>
      <p:sp>
        <p:nvSpPr>
          <p:cNvPr id="16" name="Consultoria e assessoria completa"/>
          <p:cNvSpPr/>
          <p:nvPr/>
        </p:nvSpPr>
        <p:spPr>
          <a:xfrm>
            <a:off x="8083296" y="1965960"/>
            <a:ext cx="3520440" cy="4069080"/>
          </a:xfrm>
          <a:prstGeom prst="roundRect">
            <a:avLst>
              <a:gd name="adj" fmla="val 3117"/>
            </a:avLst>
          </a:prstGeom>
          <a:solidFill>
            <a:srgbClr val="004AAD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03336" y="2286000"/>
            <a:ext cx="685800" cy="68580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212" y="243687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3336" y="3108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Consultoria e assessoria completa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403336" y="38404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Diagnóstico e atuação contínua nas cinco frentes do Método Desenvolve.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03336" y="507492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C2CB"/>
                </a:solidFill>
              </a:rPr>
              <a:t>A forma mais completa de apoio à Secretaria.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C4EC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C2CB"/>
                </a:solidFill>
              </a:rPr>
              <a:t>EQUIPE E PRÓXIMOS PASSOS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Vamos conversar sobre </a:t>
            </a:r>
            <a:pPr algn="l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saúde do seu município</a:t>
            </a:r>
            <a:endParaRPr lang="en-US" sz="3000" dirty="0"/>
          </a:p>
        </p:txBody>
      </p:sp>
      <p:sp>
        <p:nvSpPr>
          <p:cNvPr id="4" name="Dr. Diego Meloni"/>
          <p:cNvSpPr/>
          <p:nvPr/>
        </p:nvSpPr>
        <p:spPr>
          <a:xfrm>
            <a:off x="548640" y="19202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0D1150">
              <a:alpha val="85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76272"/>
            <a:ext cx="676656" cy="67665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762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DM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Dr. Diego Meloni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Diretor Técnico</a:t>
            </a:r>
            <a:endParaRPr lang="en-US" sz="1300" dirty="0"/>
          </a:p>
        </p:txBody>
      </p:sp>
      <p:sp>
        <p:nvSpPr>
          <p:cNvPr id="9" name="Luciana Nazar"/>
          <p:cNvSpPr/>
          <p:nvPr/>
        </p:nvSpPr>
        <p:spPr>
          <a:xfrm>
            <a:off x="4315968" y="19202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0D1150">
              <a:alpha val="85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0288" y="2176272"/>
            <a:ext cx="676656" cy="67665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762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LN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31536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Luciana Nazar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31536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Diretora de Operação</a:t>
            </a:r>
            <a:endParaRPr lang="en-US" sz="1300" dirty="0"/>
          </a:p>
        </p:txBody>
      </p:sp>
      <p:sp>
        <p:nvSpPr>
          <p:cNvPr id="14" name="Dr. Murilo Santos"/>
          <p:cNvSpPr/>
          <p:nvPr/>
        </p:nvSpPr>
        <p:spPr>
          <a:xfrm>
            <a:off x="8083296" y="19202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0D1150">
              <a:alpha val="85000"/>
            </a:srgbClr>
          </a:solidFill>
          <a:ln w="12700">
            <a:solidFill>
              <a:srgbClr val="3A4A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2176272"/>
            <a:ext cx="676656" cy="67665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1762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50"/>
                </a:solidFill>
              </a:rPr>
              <a:t>MS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Dr. Murilo Santos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Diretor Jurídico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8C4EC"/>
                </a:solidFill>
              </a:rPr>
              <a:t>OAB/SP 311.759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657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Conversa de diagnóstico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776472"/>
            <a:ext cx="329184" cy="329184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315968" y="365760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2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047488" y="3657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Proposta técnica</a:t>
            </a:r>
            <a:endParaRPr lang="en-US" sz="17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3776472"/>
            <a:ext cx="329184" cy="32918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083296" y="365760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083296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4AAD"/>
                </a:solidFill>
              </a:rPr>
              <a:t>3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8814816" y="3657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Início da atuação</a:t>
            </a:r>
            <a:endParaRPr lang="en-US" sz="1700" dirty="0"/>
          </a:p>
        </p:txBody>
      </p:sp>
      <p:pic>
        <p:nvPicPr>
          <p:cNvPr id="30" name="Image 2" descr="/tmp/claude-0/-home-user/25c0be0f-0a5e-54d0-b86c-4757d56f039f/scratchpad/deck/assets/dsve-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92040"/>
            <a:ext cx="2011680" cy="7315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3108960" y="49560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C2CB"/>
                </a:solidFill>
              </a:rPr>
              <a:t>SITE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3108960" y="52303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grupodesenvolve.com.br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5852160" y="49560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C2CB"/>
                </a:solidFill>
              </a:rPr>
              <a:t>E-MAIL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5852160" y="52303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contato@grupodesenvolve.com.br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9509760" y="49560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C2CB"/>
                </a:solidFill>
              </a:rPr>
              <a:t>INSTAGRAM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9509760" y="5230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@grupodsve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EC"/>
                </a:solidFill>
              </a:rPr>
              <a:t>Desenvolve Consultoria Ltda. · CNPJ 27.594.121/0001-65 · Ribeirão Preto/SP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senvolve Consultoria">
  <a:themeElements>
    <a:clrScheme name="Desenvolve Consultoria">
      <a:dk1>
        <a:srgbClr val="0D1150"/>
      </a:dk1>
      <a:lt1>
        <a:srgbClr val="FFFFFF"/>
      </a:lt1>
      <a:dk2>
        <a:srgbClr val="151A6B"/>
      </a:dk2>
      <a:lt2>
        <a:srgbClr val="B8C4EC"/>
      </a:lt2>
      <a:accent1>
        <a:srgbClr val="00C2CB"/>
      </a:accent1>
      <a:accent2>
        <a:srgbClr val="004AAD"/>
      </a:accent2>
      <a:accent3>
        <a:srgbClr val="2E6FD8"/>
      </a:accent3>
      <a:accent4>
        <a:srgbClr val="7FE3E8"/>
      </a:accent4>
      <a:accent5>
        <a:srgbClr val="0A2E7A"/>
      </a:accent5>
      <a:accent6>
        <a:srgbClr val="E8EEFB"/>
      </a:accent6>
      <a:hlink>
        <a:srgbClr val="00C2CB"/>
      </a:hlink>
      <a:folHlink>
        <a:srgbClr val="7FE3E8"/>
      </a:folHlink>
    </a:clrScheme>
    <a:fontScheme name="Desenvolve Consultoria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Desenvolve Consultoria Ltda.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Comercial — Desenvolve Consultoria</dc:title>
  <dc:subject>PptxGenJS Presentation</dc:subject>
  <dc:creator>Desenvolve Consultoria</dc:creator>
  <cp:lastModifiedBy>Desenvolve Consultoria</cp:lastModifiedBy>
  <cp:revision>1</cp:revision>
  <dcterms:created xsi:type="dcterms:W3CDTF">2026-10-15T19:55:34Z</dcterms:created>
  <dcterms:modified xsi:type="dcterms:W3CDTF">2026-10-15T19:55:34Z</dcterms:modified>
</cp:coreProperties>
</file>